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C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0" y="91440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>
                <a:solidFill>
                  <a:srgbClr val="818CF8"/>
                </a:solidFill>
                <a:latin typeface="Calibri"/>
              </a:defRPr>
            </a:pPr>
            <a:r>
              <a:t>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103120"/>
            <a:ext cx="9418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L'Intelligence Artificielle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3291840"/>
            <a:ext cx="8503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B3B3B3"/>
                </a:solidFill>
                <a:latin typeface="Calibri"/>
              </a:defRPr>
            </a:pPr>
            <a:r>
              <a:t>Projet Scolaire - Informatique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0" y="4389120"/>
            <a:ext cx="4846320" cy="1645920"/>
          </a:xfrm>
          <a:prstGeom prst="roundRect">
            <a:avLst>
              <a:gd name="adj" fmla="val 5000"/>
            </a:avLst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0" y="44805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3B3B3"/>
                </a:solidFill>
                <a:latin typeface="Calibri"/>
              </a:defRPr>
            </a:pPr>
            <a:r>
              <a:t>Realise par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484632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C084FC"/>
                </a:solidFill>
                <a:latin typeface="Calibri"/>
              </a:defRPr>
            </a:pPr>
            <a:r>
              <a:t>Ayoub Assouar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53949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08080"/>
                </a:solidFill>
                <a:latin typeface="Calibri"/>
              </a:defRPr>
            </a:pPr>
            <a:r>
              <a:t>Tronc Commun Scientifique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0" y="6784848"/>
            <a:ext cx="12191695" cy="73152"/>
          </a:xfrm>
          <a:prstGeom prst="roundRect">
            <a:avLst/>
          </a:prstGeom>
          <a:solidFill>
            <a:srgbClr val="C08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818CF8"/>
                </a:solidFill>
                <a:latin typeface="Calibri"/>
              </a:defRPr>
            </a:pPr>
            <a:r>
              <a:t>Sommaire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303520" cy="914400"/>
          </a:xfrm>
          <a:prstGeom prst="roundRect">
            <a:avLst>
              <a:gd name="adj" fmla="val 3000"/>
            </a:avLst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14400" y="1828800"/>
            <a:ext cx="548640" cy="548640"/>
          </a:xfrm>
          <a:prstGeom prst="ellipse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182880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B3B3B3"/>
                </a:solidFill>
                <a:latin typeface="Calibri"/>
              </a:defRPr>
            </a:pPr>
            <a:r>
              <a:t> Qu'est-ce que l'IA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645920"/>
            <a:ext cx="5303520" cy="914400"/>
          </a:xfrm>
          <a:prstGeom prst="roundRect">
            <a:avLst>
              <a:gd name="adj" fmla="val 3000"/>
            </a:avLst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583680" y="1828800"/>
            <a:ext cx="548640" cy="548640"/>
          </a:xfrm>
          <a:prstGeom prst="ellipse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182880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B3B3B3"/>
                </a:solidFill>
                <a:latin typeface="Calibri"/>
              </a:defRPr>
            </a:pPr>
            <a:r>
              <a:t> Histoire de l'IA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788920"/>
            <a:ext cx="5303520" cy="914400"/>
          </a:xfrm>
          <a:prstGeom prst="roundRect">
            <a:avLst>
              <a:gd name="adj" fmla="val 3000"/>
            </a:avLst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14400" y="2971800"/>
            <a:ext cx="548640" cy="548640"/>
          </a:xfrm>
          <a:prstGeom prst="ellipse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297180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B3B3B3"/>
                </a:solidFill>
                <a:latin typeface="Calibri"/>
              </a:defRPr>
            </a:pPr>
            <a:r>
              <a:t> Les types d'IA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2788920"/>
            <a:ext cx="5303520" cy="914400"/>
          </a:xfrm>
          <a:prstGeom prst="roundRect">
            <a:avLst>
              <a:gd name="adj" fmla="val 3000"/>
            </a:avLst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583680" y="2971800"/>
            <a:ext cx="548640" cy="548640"/>
          </a:xfrm>
          <a:prstGeom prst="ellipse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297180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B3B3B3"/>
                </a:solidFill>
                <a:latin typeface="Calibri"/>
              </a:defRPr>
            </a:pPr>
            <a:r>
              <a:t> Comment fonctionne l'IA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931920"/>
            <a:ext cx="5303520" cy="914400"/>
          </a:xfrm>
          <a:prstGeom prst="roundRect">
            <a:avLst>
              <a:gd name="adj" fmla="val 3000"/>
            </a:avLst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114800"/>
            <a:ext cx="548640" cy="548640"/>
          </a:xfrm>
          <a:prstGeom prst="ellipse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411480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B3B3B3"/>
                </a:solidFill>
                <a:latin typeface="Calibri"/>
              </a:defRPr>
            </a:pPr>
            <a:r>
              <a:t> Applications de l'IA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3931920"/>
            <a:ext cx="5303520" cy="914400"/>
          </a:xfrm>
          <a:prstGeom prst="roundRect">
            <a:avLst>
              <a:gd name="adj" fmla="val 3000"/>
            </a:avLst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83680" y="4114800"/>
            <a:ext cx="548640" cy="548640"/>
          </a:xfrm>
          <a:prstGeom prst="ellipse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411480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B3B3B3"/>
                </a:solidFill>
                <a:latin typeface="Calibri"/>
              </a:defRPr>
            </a:pPr>
            <a:r>
              <a:t> L'IA dans la vie quotidienne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5074920"/>
            <a:ext cx="5303520" cy="914400"/>
          </a:xfrm>
          <a:prstGeom prst="roundRect">
            <a:avLst>
              <a:gd name="adj" fmla="val 3000"/>
            </a:avLst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14400" y="5257800"/>
            <a:ext cx="548640" cy="548640"/>
          </a:xfrm>
          <a:prstGeom prst="ellipse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5920" y="525780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B3B3B3"/>
                </a:solidFill>
                <a:latin typeface="Calibri"/>
              </a:defRPr>
            </a:pPr>
            <a:r>
              <a:t> Avantages et Inconvenients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0" y="5074920"/>
            <a:ext cx="5303520" cy="914400"/>
          </a:xfrm>
          <a:prstGeom prst="roundRect">
            <a:avLst>
              <a:gd name="adj" fmla="val 3000"/>
            </a:avLst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583680" y="5257800"/>
            <a:ext cx="548640" cy="548640"/>
          </a:xfrm>
          <a:prstGeom prst="ellipse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0" y="525780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B3B3B3"/>
                </a:solidFill>
                <a:latin typeface="Calibri"/>
              </a:defRPr>
            </a:pPr>
            <a:r>
              <a:t> L'avenir de l'IA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C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818CF8"/>
                </a:solidFill>
                <a:latin typeface="Calibri"/>
              </a:defRPr>
            </a:pPr>
            <a:r>
              <a:t>CHAPITRE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Qu'est-ce que l'Intelligence Artificielle 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6400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700">
                <a:solidFill>
                  <a:srgbClr val="B3B3B3"/>
                </a:solidFill>
                <a:latin typeface="Calibri"/>
              </a:defRPr>
            </a:pPr>
            <a:r>
              <a:t>L'intelligence artificielle (IA) est une branche de l'informatique qui vise a creer des systemes capables d'effectuer des taches qui necessitent normalement l'intelligence humaine.</a:t>
            </a:r>
          </a:p>
          <a:p>
            <a:pPr algn="l">
              <a:spcBef>
                <a:spcPts val="600"/>
              </a:spcBef>
              <a:spcAft>
                <a:spcPts val="600"/>
              </a:spcAft>
              <a:defRPr sz="1700" b="0">
                <a:solidFill>
                  <a:srgbClr val="B3B3B3"/>
                </a:solidFill>
                <a:latin typeface="Calibri"/>
              </a:defRPr>
            </a:pPr>
            <a:r>
              <a:t>Ces taches incluent : la reconnaissance vocale, la prise de decision, la traduction de langues, et la perception visuelle.</a:t>
            </a:r>
          </a:p>
          <a:p>
            <a:pPr algn="l">
              <a:spcBef>
                <a:spcPts val="600"/>
              </a:spcBef>
              <a:spcAft>
                <a:spcPts val="600"/>
              </a:spcAft>
              <a:defRPr sz="1700" b="0">
                <a:solidFill>
                  <a:srgbClr val="B3B3B3"/>
                </a:solidFill>
                <a:latin typeface="Calibri"/>
              </a:defRPr>
            </a:pPr>
            <a:r>
              <a:t>Le terme "Intelligence Artificielle" a ete invente par John McCarthy en 1956 lors de la conference de Dartmouth.</a:t>
            </a:r>
          </a:p>
          <a:p>
            <a:pPr algn="l">
              <a:spcBef>
                <a:spcPts val="600"/>
              </a:spcBef>
              <a:spcAft>
                <a:spcPts val="600"/>
              </a:spcAft>
              <a:defRPr sz="1700" b="0">
                <a:solidFill>
                  <a:srgbClr val="B3B3B3"/>
                </a:solidFill>
                <a:latin typeface="Calibri"/>
              </a:defRPr>
            </a:pPr>
            <a:r>
              <a:t>L'IA cherche a simuler les processus cognitifs humains comme l'apprentissage, le raisonnement, et l'auto-correction.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0" y="2011680"/>
            <a:ext cx="3657600" cy="3657600"/>
          </a:xfrm>
          <a:prstGeom prst="roundRect">
            <a:avLst>
              <a:gd name="adj" fmla="val 5000"/>
            </a:avLst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0" y="27432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0" b="1">
                <a:solidFill>
                  <a:srgbClr val="818CF8"/>
                </a:solidFill>
                <a:latin typeface="Calibri"/>
              </a:defRPr>
            </a:pPr>
            <a:r>
              <a:t>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41148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08080"/>
                </a:solidFill>
                <a:latin typeface="Calibri"/>
              </a:defRPr>
            </a:pPr>
            <a:r>
              <a:t>Intelligence Artificielle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818CF8"/>
                </a:solidFill>
                <a:latin typeface="Calibri"/>
              </a:defRPr>
            </a:pPr>
            <a:r>
              <a:t>CHAPITRE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L'Histoire de l'Intelligence Artificielle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1737360"/>
            <a:ext cx="54864" cy="4754880"/>
          </a:xfrm>
          <a:prstGeom prst="roundRect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234440" y="1737360"/>
            <a:ext cx="320040" cy="320040"/>
          </a:xfrm>
          <a:prstGeom prst="ellipse">
            <a:avLst/>
          </a:prstGeom>
          <a:solidFill>
            <a:srgbClr val="C08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20240" y="1719072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084FC"/>
                </a:solidFill>
                <a:latin typeface="Calibri"/>
              </a:defRPr>
            </a:pPr>
            <a:r>
              <a:t>1950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171907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3B3B3"/>
                </a:solidFill>
                <a:latin typeface="Calibri"/>
              </a:defRPr>
            </a:pPr>
            <a:r>
              <a:t>Alan Turing propose le 'Test de Turing' pour mesurer l'intelligence des machines</a:t>
            </a:r>
          </a:p>
        </p:txBody>
      </p:sp>
      <p:sp>
        <p:nvSpPr>
          <p:cNvPr id="9" name="Oval 8"/>
          <p:cNvSpPr/>
          <p:nvPr/>
        </p:nvSpPr>
        <p:spPr>
          <a:xfrm>
            <a:off x="1234440" y="2414016"/>
            <a:ext cx="320040" cy="320040"/>
          </a:xfrm>
          <a:prstGeom prst="ellipse">
            <a:avLst/>
          </a:prstGeom>
          <a:solidFill>
            <a:srgbClr val="C08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920240" y="2395728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084FC"/>
                </a:solidFill>
                <a:latin typeface="Calibri"/>
              </a:defRPr>
            </a:pPr>
            <a:r>
              <a:t>1956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395728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3B3B3"/>
                </a:solidFill>
                <a:latin typeface="Calibri"/>
              </a:defRPr>
            </a:pPr>
            <a:r>
              <a:t>Conference de Dartmouth : naissance officielle de l'IA comme domaine de recherche</a:t>
            </a:r>
          </a:p>
        </p:txBody>
      </p:sp>
      <p:sp>
        <p:nvSpPr>
          <p:cNvPr id="12" name="Oval 11"/>
          <p:cNvSpPr/>
          <p:nvPr/>
        </p:nvSpPr>
        <p:spPr>
          <a:xfrm>
            <a:off x="1234440" y="3090672"/>
            <a:ext cx="320040" cy="320040"/>
          </a:xfrm>
          <a:prstGeom prst="ellipse">
            <a:avLst/>
          </a:prstGeom>
          <a:solidFill>
            <a:srgbClr val="C08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20240" y="3072384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084FC"/>
                </a:solidFill>
                <a:latin typeface="Calibri"/>
              </a:defRPr>
            </a:pPr>
            <a:r>
              <a:t>1966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3072384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3B3B3"/>
                </a:solidFill>
                <a:latin typeface="Calibri"/>
              </a:defRPr>
            </a:pPr>
            <a:r>
              <a:t>ELIZA, le premier chatbot, est cree par Joseph Weizenbaum au MIT</a:t>
            </a:r>
          </a:p>
        </p:txBody>
      </p:sp>
      <p:sp>
        <p:nvSpPr>
          <p:cNvPr id="15" name="Oval 14"/>
          <p:cNvSpPr/>
          <p:nvPr/>
        </p:nvSpPr>
        <p:spPr>
          <a:xfrm>
            <a:off x="1234440" y="3767328"/>
            <a:ext cx="320040" cy="320040"/>
          </a:xfrm>
          <a:prstGeom prst="ellipse">
            <a:avLst/>
          </a:prstGeom>
          <a:solidFill>
            <a:srgbClr val="C08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20240" y="37490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084FC"/>
                </a:solidFill>
                <a:latin typeface="Calibri"/>
              </a:defRPr>
            </a:pPr>
            <a:r>
              <a:t>1997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37490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3B3B3"/>
                </a:solidFill>
                <a:latin typeface="Calibri"/>
              </a:defRPr>
            </a:pPr>
            <a:r>
              <a:t>Deep Blue (IBM) bat le champion du monde d'echecs Garry Kasparov</a:t>
            </a:r>
          </a:p>
        </p:txBody>
      </p:sp>
      <p:sp>
        <p:nvSpPr>
          <p:cNvPr id="18" name="Oval 17"/>
          <p:cNvSpPr/>
          <p:nvPr/>
        </p:nvSpPr>
        <p:spPr>
          <a:xfrm>
            <a:off x="1234440" y="4443984"/>
            <a:ext cx="320040" cy="320040"/>
          </a:xfrm>
          <a:prstGeom prst="ellipse">
            <a:avLst/>
          </a:prstGeom>
          <a:solidFill>
            <a:srgbClr val="C08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20240" y="4425696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084FC"/>
                </a:solidFill>
                <a:latin typeface="Calibri"/>
              </a:defRPr>
            </a:pPr>
            <a:r>
              <a:t>2011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17520" y="442569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3B3B3"/>
                </a:solidFill>
                <a:latin typeface="Calibri"/>
              </a:defRPr>
            </a:pPr>
            <a:r>
              <a:t>IBM Watson gagne au jeu televise Jeopardy! contre des champions humains</a:t>
            </a:r>
          </a:p>
        </p:txBody>
      </p:sp>
      <p:sp>
        <p:nvSpPr>
          <p:cNvPr id="21" name="Oval 20"/>
          <p:cNvSpPr/>
          <p:nvPr/>
        </p:nvSpPr>
        <p:spPr>
          <a:xfrm>
            <a:off x="1234440" y="5120640"/>
            <a:ext cx="320040" cy="320040"/>
          </a:xfrm>
          <a:prstGeom prst="ellipse">
            <a:avLst/>
          </a:prstGeom>
          <a:solidFill>
            <a:srgbClr val="C08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920240" y="5102352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084FC"/>
                </a:solidFill>
                <a:latin typeface="Calibri"/>
              </a:defRPr>
            </a:pPr>
            <a:r>
              <a:t>2016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17520" y="51023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3B3B3"/>
                </a:solidFill>
                <a:latin typeface="Calibri"/>
              </a:defRPr>
            </a:pPr>
            <a:r>
              <a:t>AlphaGo (Google DeepMind) bat le champion mondial du jeu de Go</a:t>
            </a:r>
          </a:p>
        </p:txBody>
      </p:sp>
      <p:sp>
        <p:nvSpPr>
          <p:cNvPr id="24" name="Oval 23"/>
          <p:cNvSpPr/>
          <p:nvPr/>
        </p:nvSpPr>
        <p:spPr>
          <a:xfrm>
            <a:off x="1234440" y="5797296"/>
            <a:ext cx="320040" cy="320040"/>
          </a:xfrm>
          <a:prstGeom prst="ellipse">
            <a:avLst/>
          </a:prstGeom>
          <a:solidFill>
            <a:srgbClr val="C08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20240" y="5779008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084FC"/>
                </a:solidFill>
                <a:latin typeface="Calibri"/>
              </a:defRPr>
            </a:pPr>
            <a:r>
              <a:t>2022+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17520" y="5779008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3B3B3"/>
                </a:solidFill>
                <a:latin typeface="Calibri"/>
              </a:defRPr>
            </a:pPr>
            <a:r>
              <a:t>ChatGPT et les grands modeles de langage revolutionnent l'IA generative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C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818CF8"/>
                </a:solidFill>
                <a:latin typeface="Calibri"/>
              </a:defRPr>
            </a:pPr>
            <a:r>
              <a:t>CHAPITRE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Les Types d'Intelligence Artificielle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3566160" cy="4389120"/>
          </a:xfrm>
          <a:prstGeom prst="roundRect">
            <a:avLst>
              <a:gd name="adj" fmla="val 4000"/>
            </a:avLst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645920" y="2103120"/>
            <a:ext cx="1371600" cy="1371600"/>
          </a:xfrm>
          <a:prstGeom prst="roundRect">
            <a:avLst>
              <a:gd name="adj" fmla="val 10000"/>
            </a:avLst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45920" y="2286000"/>
            <a:ext cx="1371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65760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818CF8"/>
                </a:solidFill>
                <a:latin typeface="Calibri"/>
              </a:defRPr>
            </a:pPr>
            <a:r>
              <a:t>IA Faible (Narrow AI)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206240"/>
            <a:ext cx="3017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B3B3B3"/>
                </a:solidFill>
                <a:latin typeface="Calibri"/>
              </a:defRPr>
            </a:pPr>
            <a:r>
              <a:t>Concue pour une tache specifique. C'est le type d'IA le plus courant aujourd'hui.</a:t>
            </a:r>
            <a:br/>
            <a:br/>
            <a:r>
              <a:t>Exemples : Siri, Alexa, filtres de spam, recommandations Netflix.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828800"/>
            <a:ext cx="3566160" cy="4389120"/>
          </a:xfrm>
          <a:prstGeom prst="roundRect">
            <a:avLst>
              <a:gd name="adj" fmla="val 4000"/>
            </a:avLst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486400" y="2103120"/>
            <a:ext cx="1371600" cy="1371600"/>
          </a:xfrm>
          <a:prstGeom prst="roundRect">
            <a:avLst>
              <a:gd name="adj" fmla="val 10000"/>
            </a:avLst>
          </a:prstGeom>
          <a:solidFill>
            <a:srgbClr val="C08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0" y="2286000"/>
            <a:ext cx="1371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365760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C084FC"/>
                </a:solidFill>
                <a:latin typeface="Calibri"/>
              </a:defRPr>
            </a:pPr>
            <a:r>
              <a:t>IA Forte (General AI)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4206240"/>
            <a:ext cx="3017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B3B3B3"/>
                </a:solidFill>
                <a:latin typeface="Calibri"/>
              </a:defRPr>
            </a:pPr>
            <a:r>
              <a:t>Une IA qui pourrait comprendre et apprendre n'importe quelle tache intellectuelle comme un humain.</a:t>
            </a:r>
            <a:br/>
            <a:br/>
            <a:r>
              <a:t>Ce type n'existe pas encore mais fait l'objet de recherches actives.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1828800"/>
            <a:ext cx="3566160" cy="4389120"/>
          </a:xfrm>
          <a:prstGeom prst="roundRect">
            <a:avLst>
              <a:gd name="adj" fmla="val 4000"/>
            </a:avLst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326880" y="2103120"/>
            <a:ext cx="1371600" cy="1371600"/>
          </a:xfrm>
          <a:prstGeom prst="roundRect">
            <a:avLst>
              <a:gd name="adj" fmla="val 10000"/>
            </a:avLst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26880" y="2286000"/>
            <a:ext cx="1371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365760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472B6"/>
                </a:solidFill>
                <a:latin typeface="Calibri"/>
              </a:defRPr>
            </a:pPr>
            <a:r>
              <a:t>Super IA (Super AI)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4206240"/>
            <a:ext cx="3017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B3B3B3"/>
                </a:solidFill>
                <a:latin typeface="Calibri"/>
              </a:defRPr>
            </a:pPr>
            <a:r>
              <a:t>Une IA hypothetique qui depasserait l'intelligence humaine dans tous les domaines.</a:t>
            </a:r>
            <a:br/>
            <a:br/>
            <a:r>
              <a:t>C'est un concept theorique qui souleve beaucoup de questions ethiques.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818CF8"/>
                </a:solidFill>
                <a:latin typeface="Calibri"/>
              </a:defRPr>
            </a:pPr>
            <a:r>
              <a:t>CHAPITRE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Comment Fonctionne l'IA 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5486400" cy="2103120"/>
          </a:xfrm>
          <a:prstGeom prst="roundRect">
            <a:avLst>
              <a:gd name="adj" fmla="val 4000"/>
            </a:avLst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C084FC"/>
                </a:solidFill>
                <a:latin typeface="Calibri"/>
              </a:defRPr>
            </a:pPr>
            <a:r>
              <a:t>1. Les Donnees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65176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3B3B3"/>
                </a:solidFill>
                <a:latin typeface="Calibri"/>
              </a:defRPr>
            </a:pPr>
            <a:r>
              <a:t>L'IA a besoin de grandes quantites de donnees pour apprendre. Plus les donnees sont nombreuses et de qualite, meilleure sera l'IA.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828800"/>
            <a:ext cx="5486400" cy="2103120"/>
          </a:xfrm>
          <a:prstGeom prst="roundRect">
            <a:avLst>
              <a:gd name="adj" fmla="val 4000"/>
            </a:avLst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0" y="210312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C084FC"/>
                </a:solidFill>
                <a:latin typeface="Calibri"/>
              </a:defRPr>
            </a:pPr>
            <a:r>
              <a:t>2. Les Algorithmes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265176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3B3B3"/>
                </a:solidFill>
                <a:latin typeface="Calibri"/>
              </a:defRPr>
            </a:pPr>
            <a:r>
              <a:t>Des regles mathematiques permettent a l'IA d'analyser les donnees, de trouver des patterns et de prendre des decisions.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206240"/>
            <a:ext cx="5486400" cy="2103120"/>
          </a:xfrm>
          <a:prstGeom prst="roundRect">
            <a:avLst>
              <a:gd name="adj" fmla="val 4000"/>
            </a:avLst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48056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C084FC"/>
                </a:solidFill>
                <a:latin typeface="Calibri"/>
              </a:defRPr>
            </a:pPr>
            <a:r>
              <a:t>3. L'Apprentissage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2920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3B3B3"/>
                </a:solidFill>
                <a:latin typeface="Calibri"/>
              </a:defRPr>
            </a:pPr>
            <a:r>
              <a:t>L'IA s'ameliore en s'entrainant sur des donnees. Elle ajuste ses parametres pour obtenir de meilleurs resultats a chaque iteration.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4206240"/>
            <a:ext cx="5486400" cy="2103120"/>
          </a:xfrm>
          <a:prstGeom prst="roundRect">
            <a:avLst>
              <a:gd name="adj" fmla="val 4000"/>
            </a:avLst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6560" y="448056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C084FC"/>
                </a:solidFill>
                <a:latin typeface="Calibri"/>
              </a:defRPr>
            </a:pPr>
            <a:r>
              <a:t>4. Reseaux de Neurones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502920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3B3B3"/>
                </a:solidFill>
                <a:latin typeface="Calibri"/>
              </a:defRPr>
            </a:pPr>
            <a:r>
              <a:t>Inspires du cerveau humain, ces reseaux sont composes de couches de 'neurones' artificiels qui traitent l'information de maniere hierarchique.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C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818CF8"/>
                </a:solidFill>
                <a:latin typeface="Calibri"/>
              </a:defRPr>
            </a:pPr>
            <a:r>
              <a:t>CHAPITRE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Les Applications de l'IA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828800"/>
            <a:ext cx="3566160" cy="2103120"/>
          </a:xfrm>
          <a:prstGeom prst="roundRect">
            <a:avLst>
              <a:gd name="adj" fmla="val 4000"/>
            </a:avLst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0312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C084FC"/>
                </a:solidFill>
                <a:latin typeface="Calibri"/>
              </a:defRPr>
            </a:pPr>
            <a:r>
              <a:t>Medecine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51760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3B3B3"/>
                </a:solidFill>
                <a:latin typeface="Calibri"/>
              </a:defRPr>
            </a:pPr>
            <a:r>
              <a:t>Diagnostic de maladies, analyse d'imagerie medicale, decouverte de medicaments, chirurgie assistee par robot.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828800"/>
            <a:ext cx="3566160" cy="2103120"/>
          </a:xfrm>
          <a:prstGeom prst="roundRect">
            <a:avLst>
              <a:gd name="adj" fmla="val 4000"/>
            </a:avLst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10312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C084FC"/>
                </a:solidFill>
                <a:latin typeface="Calibri"/>
              </a:defRPr>
            </a:pPr>
            <a:r>
              <a:t>Transport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651760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3B3B3"/>
                </a:solidFill>
                <a:latin typeface="Calibri"/>
              </a:defRPr>
            </a:pPr>
            <a:r>
              <a:t>Voitures autonomes (Tesla, Waymo), optimisation du trafic, systemes de navigation intelligents.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828800"/>
            <a:ext cx="3566160" cy="2103120"/>
          </a:xfrm>
          <a:prstGeom prst="roundRect">
            <a:avLst>
              <a:gd name="adj" fmla="val 4000"/>
            </a:avLst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0" y="210312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C084FC"/>
                </a:solidFill>
                <a:latin typeface="Calibri"/>
              </a:defRPr>
            </a:pPr>
            <a:r>
              <a:t>Education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2651760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3B3B3"/>
                </a:solidFill>
                <a:latin typeface="Calibri"/>
              </a:defRPr>
            </a:pPr>
            <a:r>
              <a:t>Tutorat personnalise, correction automatique, plateformes d'apprentissage adaptatif.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206240"/>
            <a:ext cx="3566160" cy="2103120"/>
          </a:xfrm>
          <a:prstGeom prst="roundRect">
            <a:avLst>
              <a:gd name="adj" fmla="val 4000"/>
            </a:avLst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448056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C084FC"/>
                </a:solidFill>
                <a:latin typeface="Calibri"/>
              </a:defRPr>
            </a:pPr>
            <a:r>
              <a:t>Jeux Video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029200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3B3B3"/>
                </a:solidFill>
                <a:latin typeface="Calibri"/>
              </a:defRPr>
            </a:pPr>
            <a:r>
              <a:t>Personnages non-joueurs (PNJ) intelligents, generation procedurale de contenu, matchmaking.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4206240"/>
            <a:ext cx="3566160" cy="2103120"/>
          </a:xfrm>
          <a:prstGeom prst="roundRect">
            <a:avLst>
              <a:gd name="adj" fmla="val 4000"/>
            </a:avLst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0" y="448056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C084FC"/>
                </a:solidFill>
                <a:latin typeface="Calibri"/>
              </a:defRPr>
            </a:pPr>
            <a:r>
              <a:t>Finance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5029200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3B3B3"/>
                </a:solidFill>
                <a:latin typeface="Calibri"/>
              </a:defRPr>
            </a:pPr>
            <a:r>
              <a:t>Detection de fraudes, trading algorithmique, evaluation des risques, chatbots de service client.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60" y="4206240"/>
            <a:ext cx="3566160" cy="2103120"/>
          </a:xfrm>
          <a:prstGeom prst="roundRect">
            <a:avLst>
              <a:gd name="adj" fmla="val 4000"/>
            </a:avLst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0" y="448056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C084FC"/>
                </a:solidFill>
                <a:latin typeface="Calibri"/>
              </a:defRPr>
            </a:pPr>
            <a:r>
              <a:t>Environnement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5029200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3B3B3"/>
                </a:solidFill>
                <a:latin typeface="Calibri"/>
              </a:defRPr>
            </a:pPr>
            <a:r>
              <a:t>Prevision climatique, surveillance de la deforestation, optimisation energetique, agriculture de precision.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818CF8"/>
                </a:solidFill>
                <a:latin typeface="Calibri"/>
              </a:defRPr>
            </a:pPr>
            <a:r>
              <a:t>CHAPITRE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L'IA dans Notre Vie Quotidienne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10698480" cy="658368"/>
          </a:xfrm>
          <a:prstGeom prst="roundRect">
            <a:avLst>
              <a:gd name="adj" fmla="val 2000"/>
            </a:avLst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97280" y="2029968"/>
            <a:ext cx="256032" cy="256032"/>
          </a:xfrm>
          <a:prstGeom prst="ellipse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196596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084FC"/>
                </a:solidFill>
                <a:latin typeface="Calibri"/>
              </a:defRPr>
            </a:pPr>
            <a:r>
              <a:t>Assistants vocaux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196596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3B3B3"/>
                </a:solidFill>
                <a:latin typeface="Calibri"/>
              </a:defRPr>
            </a:pPr>
            <a:r>
              <a:t>Siri, Google Assistant, Alexa comprennent et repondent a vos questions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606040"/>
            <a:ext cx="10698480" cy="658368"/>
          </a:xfrm>
          <a:prstGeom prst="roundRect">
            <a:avLst>
              <a:gd name="adj" fmla="val 2000"/>
            </a:avLst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97280" y="2807208"/>
            <a:ext cx="256032" cy="256032"/>
          </a:xfrm>
          <a:prstGeom prst="ellipse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554480" y="274320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084FC"/>
                </a:solidFill>
                <a:latin typeface="Calibri"/>
              </a:defRPr>
            </a:pPr>
            <a:r>
              <a:t>Reseaux sociaux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274320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3B3B3"/>
                </a:solidFill>
                <a:latin typeface="Calibri"/>
              </a:defRPr>
            </a:pPr>
            <a:r>
              <a:t>L'IA selectionne le contenu de votre fil d'actualite (Instagram, TikTok, YouTube)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383280"/>
            <a:ext cx="10698480" cy="658368"/>
          </a:xfrm>
          <a:prstGeom prst="roundRect">
            <a:avLst>
              <a:gd name="adj" fmla="val 2000"/>
            </a:avLst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97280" y="3584448"/>
            <a:ext cx="256032" cy="256032"/>
          </a:xfrm>
          <a:prstGeom prst="ellipse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554480" y="352044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084FC"/>
                </a:solidFill>
                <a:latin typeface="Calibri"/>
              </a:defRPr>
            </a:pPr>
            <a:r>
              <a:t>Streaming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352044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3B3B3"/>
                </a:solidFill>
                <a:latin typeface="Calibri"/>
              </a:defRPr>
            </a:pPr>
            <a:r>
              <a:t>Netflix et Spotify utilisent l'IA pour recommander des films et de la musique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160520"/>
            <a:ext cx="10698480" cy="658368"/>
          </a:xfrm>
          <a:prstGeom prst="roundRect">
            <a:avLst>
              <a:gd name="adj" fmla="val 2000"/>
            </a:avLst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97280" y="4361688"/>
            <a:ext cx="256032" cy="256032"/>
          </a:xfrm>
          <a:prstGeom prst="ellipse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554480" y="429768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084FC"/>
                </a:solidFill>
                <a:latin typeface="Calibri"/>
              </a:defRPr>
            </a:pPr>
            <a:r>
              <a:t>Photographie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429768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3B3B3"/>
                </a:solidFill>
                <a:latin typeface="Calibri"/>
              </a:defRPr>
            </a:pPr>
            <a:r>
              <a:t>Le mode portrait et les filtres de votre telephone utilisent l'IA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937760"/>
            <a:ext cx="10698480" cy="658368"/>
          </a:xfrm>
          <a:prstGeom prst="roundRect">
            <a:avLst>
              <a:gd name="adj" fmla="val 2000"/>
            </a:avLst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97280" y="5138928"/>
            <a:ext cx="256032" cy="256032"/>
          </a:xfrm>
          <a:prstGeom prst="ellipse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554480" y="50749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084FC"/>
                </a:solidFill>
                <a:latin typeface="Calibri"/>
              </a:defRPr>
            </a:pPr>
            <a:r>
              <a:t>Traduction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0" y="507492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3B3B3"/>
                </a:solidFill>
                <a:latin typeface="Calibri"/>
              </a:defRPr>
            </a:pPr>
            <a:r>
              <a:t>Google Translate utilise l'IA pour traduire plus de 100 langues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5715000"/>
            <a:ext cx="10698480" cy="658368"/>
          </a:xfrm>
          <a:prstGeom prst="roundRect">
            <a:avLst>
              <a:gd name="adj" fmla="val 2000"/>
            </a:avLst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97280" y="5916168"/>
            <a:ext cx="256032" cy="256032"/>
          </a:xfrm>
          <a:prstGeom prst="ellipse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554480" y="585216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084FC"/>
                </a:solidFill>
                <a:latin typeface="Calibri"/>
              </a:defRPr>
            </a:pPr>
            <a:r>
              <a:t>ChatGPT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40480" y="585216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3B3B3"/>
                </a:solidFill>
                <a:latin typeface="Calibri"/>
              </a:defRPr>
            </a:pPr>
            <a:r>
              <a:t>Des millions de personnes utilisent l'IA generative pour ecrire, coder et creer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C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818CF8"/>
                </a:solidFill>
                <a:latin typeface="Calibri"/>
              </a:defRPr>
            </a:pPr>
            <a:r>
              <a:t>CHAPITRE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Avantages et Inconvenients de l'IA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5303520" cy="4572000"/>
          </a:xfrm>
          <a:prstGeom prst="roundRect">
            <a:avLst>
              <a:gd name="adj" fmla="val 4000"/>
            </a:avLst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4D399"/>
                </a:solidFill>
                <a:latin typeface="Calibri"/>
              </a:defRPr>
            </a:pPr>
            <a:r>
              <a:t>Avantages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3B3B3"/>
                </a:solidFill>
                <a:latin typeface="Calibri"/>
              </a:defRPr>
            </a:pPr>
            <a:r>
              <a:t>+ Automatisation des taches repetitives et ennuyeuses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9184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3B3B3"/>
                </a:solidFill>
                <a:latin typeface="Calibri"/>
              </a:defRPr>
            </a:pPr>
            <a:r>
              <a:t>+ Analyse rapide de grandes quantites de donnees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8404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3B3B3"/>
                </a:solidFill>
                <a:latin typeface="Calibri"/>
              </a:defRPr>
            </a:pPr>
            <a:r>
              <a:t>+ Disponible 24h/24, 7j/7 sans fatigue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38912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3B3B3"/>
                </a:solidFill>
                <a:latin typeface="Calibri"/>
              </a:defRPr>
            </a:pPr>
            <a:r>
              <a:t>+ Amelioration des diagnostics medicaux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93776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3B3B3"/>
                </a:solidFill>
                <a:latin typeface="Calibri"/>
              </a:defRPr>
            </a:pPr>
            <a:r>
              <a:t>+ Reduction des erreurs humaines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48640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3B3B3"/>
                </a:solidFill>
                <a:latin typeface="Calibri"/>
              </a:defRPr>
            </a:pPr>
            <a:r>
              <a:t>+ Innovation dans tous les domaines scientifiques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828800"/>
            <a:ext cx="5303520" cy="4572000"/>
          </a:xfrm>
          <a:prstGeom prst="roundRect">
            <a:avLst>
              <a:gd name="adj" fmla="val 4000"/>
            </a:avLst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201168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87171"/>
                </a:solidFill>
                <a:latin typeface="Calibri"/>
              </a:defRPr>
            </a:pPr>
            <a:r>
              <a:t>Inconvenients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274320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3B3B3"/>
                </a:solidFill>
                <a:latin typeface="Calibri"/>
              </a:defRPr>
            </a:pPr>
            <a:r>
              <a:t>- Risque de perte d'emplois (chomage technologique)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329184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3B3B3"/>
                </a:solidFill>
                <a:latin typeface="Calibri"/>
              </a:defRPr>
            </a:pPr>
            <a:r>
              <a:t>- Questions de vie privee et surveillance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38404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3B3B3"/>
                </a:solidFill>
                <a:latin typeface="Calibri"/>
              </a:defRPr>
            </a:pPr>
            <a:r>
              <a:t>- Biais dans les algorithmes et discrimination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438912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3B3B3"/>
                </a:solidFill>
                <a:latin typeface="Calibri"/>
              </a:defRPr>
            </a:pPr>
            <a:r>
              <a:t>- Dependance excessive a la technologie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493776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3B3B3"/>
                </a:solidFill>
                <a:latin typeface="Calibri"/>
              </a:defRPr>
            </a:pPr>
            <a:r>
              <a:t>- Cout eleve de developpement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548640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3B3B3"/>
                </a:solidFill>
                <a:latin typeface="Calibri"/>
              </a:defRPr>
            </a:pPr>
            <a:r>
              <a:t>- Risques de mauvaise utilisation (deepfakes, armes)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818CF8"/>
                </a:solidFill>
                <a:latin typeface="Calibri"/>
              </a:defRPr>
            </a:pPr>
            <a:r>
              <a:t>CHAPITRE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L'Avenir de l'Intelligence Artificielle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B3B3B3"/>
                </a:solidFill>
                <a:latin typeface="Calibri"/>
              </a:defRPr>
            </a:pPr>
            <a:r>
              <a:t>L'IA continue d'evoluer a une vitesse impressionnante. Voici quelques tendances 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468880"/>
            <a:ext cx="10698480" cy="822960"/>
          </a:xfrm>
          <a:prstGeom prst="roundRect">
            <a:avLst>
              <a:gd name="adj" fmla="val 3000"/>
            </a:avLst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97280" y="2743200"/>
            <a:ext cx="274320" cy="274320"/>
          </a:xfrm>
          <a:prstGeom prst="ellipse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45920" y="26060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C084FC"/>
                </a:solidFill>
                <a:latin typeface="Calibri"/>
              </a:defRPr>
            </a:pPr>
            <a:r>
              <a:t>IA Generative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265176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3B3B3"/>
                </a:solidFill>
                <a:latin typeface="Calibri"/>
              </a:defRPr>
            </a:pPr>
            <a:r>
              <a:t>Creation de textes, images, videos et musique de plus en plus realistes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474720"/>
            <a:ext cx="10698480" cy="822960"/>
          </a:xfrm>
          <a:prstGeom prst="roundRect">
            <a:avLst>
              <a:gd name="adj" fmla="val 3000"/>
            </a:avLst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97280" y="3749040"/>
            <a:ext cx="274320" cy="274320"/>
          </a:xfrm>
          <a:prstGeom prst="ellipse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45920" y="36118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C084FC"/>
                </a:solidFill>
                <a:latin typeface="Calibri"/>
              </a:defRPr>
            </a:pPr>
            <a:r>
              <a:t>Medecine personnalisee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365760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3B3B3"/>
                </a:solidFill>
                <a:latin typeface="Calibri"/>
              </a:defRPr>
            </a:pPr>
            <a:r>
              <a:t>Traitements adaptes a chaque patient grace a l'IA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480560"/>
            <a:ext cx="10698480" cy="822960"/>
          </a:xfrm>
          <a:prstGeom prst="roundRect">
            <a:avLst>
              <a:gd name="adj" fmla="val 3000"/>
            </a:avLst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97280" y="4754880"/>
            <a:ext cx="274320" cy="274320"/>
          </a:xfrm>
          <a:prstGeom prst="ellipse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45920" y="46177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C084FC"/>
                </a:solidFill>
                <a:latin typeface="Calibri"/>
              </a:defRPr>
            </a:pPr>
            <a:r>
              <a:t>Robots intelligents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466344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3B3B3"/>
                </a:solidFill>
                <a:latin typeface="Calibri"/>
              </a:defRPr>
            </a:pPr>
            <a:r>
              <a:t>Des robots capables d'interagir naturellement avec les humains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5486400"/>
            <a:ext cx="10698480" cy="822960"/>
          </a:xfrm>
          <a:prstGeom prst="roundRect">
            <a:avLst>
              <a:gd name="adj" fmla="val 3000"/>
            </a:avLst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97280" y="5760720"/>
            <a:ext cx="274320" cy="274320"/>
          </a:xfrm>
          <a:prstGeom prst="ellipse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45920" y="56235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C084FC"/>
                </a:solidFill>
                <a:latin typeface="Calibri"/>
              </a:defRPr>
            </a:pPr>
            <a:r>
              <a:t>IA ethique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9120" y="566928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3B3B3"/>
                </a:solidFill>
                <a:latin typeface="Calibri"/>
              </a:defRPr>
            </a:pPr>
            <a:r>
              <a:t>Developpement de lois et reglementations pour encadrer l'IA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C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818CF8"/>
                </a:solidFill>
                <a:latin typeface="Calibri"/>
              </a:defRPr>
            </a:pPr>
            <a: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91440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L'IA : Un Outil Puissant a Utiliser</a:t>
            </a:r>
            <a:br/>
            <a:r>
              <a:t>avec Responsabilite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2286000"/>
            <a:ext cx="8503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0">
                <a:solidFill>
                  <a:srgbClr val="B3B3B3"/>
                </a:solidFill>
                <a:latin typeface="Calibri"/>
              </a:defRPr>
            </a:pPr>
            <a:r>
              <a:t>L'intelligence artificielle est l'une des technologies les plus transformatrices de notre epoque. Elle offre des possibilites enormes pour ameliorer notre vie, mais elle souleve aussi des defis importants.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3474720"/>
            <a:ext cx="8503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0">
                <a:solidFill>
                  <a:srgbClr val="B3B3B3"/>
                </a:solidFill>
                <a:latin typeface="Calibri"/>
              </a:defRPr>
            </a:pPr>
            <a:r>
              <a:t>En tant qu'etudiants et futurs citoyens, il est essentiel de comprendre comment l'IA fonctionne, de connaitre ses avantages et ses limites, et de contribuer a son developpement de maniere ethique et responsable.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0" y="4846320"/>
            <a:ext cx="6675120" cy="1371600"/>
          </a:xfrm>
          <a:prstGeom prst="roundRect">
            <a:avLst>
              <a:gd name="adj" fmla="val 4000"/>
            </a:avLst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17520" y="5029200"/>
            <a:ext cx="6126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C084FC"/>
                </a:solidFill>
                <a:latin typeface="Calibri"/>
              </a:defRPr>
            </a:pPr>
            <a:r>
              <a:t>"L'intelligence artificielle est la nouvelle electricite."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5669280"/>
            <a:ext cx="6126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08080"/>
                </a:solidFill>
                <a:latin typeface="Calibri"/>
              </a:defRPr>
            </a:pPr>
            <a:r>
              <a:t>- Andrew Ng, expert en IA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C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828800"/>
            <a:ext cx="9418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400" b="1">
                <a:solidFill>
                  <a:srgbClr val="34D399"/>
                </a:solidFill>
                <a:latin typeface="Calibri"/>
              </a:defRPr>
            </a:pPr>
            <a:r>
              <a:t>Merci 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474720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B3B3B3"/>
                </a:solidFill>
                <a:latin typeface="Calibri"/>
              </a:defRPr>
            </a:pPr>
            <a:r>
              <a:t>Presentation realisee par Ayoub Assouar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11480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808080"/>
                </a:solidFill>
                <a:latin typeface="Calibri"/>
              </a:defRPr>
            </a:pPr>
            <a:r>
              <a:t>Tronc Commun Scientifique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30352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808080"/>
                </a:solidFill>
                <a:latin typeface="Calibri"/>
              </a:defRPr>
            </a:pPr>
            <a:r>
              <a:t>Des questions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0" y="6784848"/>
            <a:ext cx="12191695" cy="73152"/>
          </a:xfrm>
          <a:prstGeom prst="round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